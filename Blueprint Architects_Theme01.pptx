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7" r:id="rId4"/>
    <p:sldId id="264" r:id="rId5"/>
    <p:sldId id="262" r:id="rId6"/>
    <p:sldId id="26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5EB"/>
    <a:srgbClr val="F9F6EC"/>
    <a:srgbClr val="FB4102"/>
    <a:srgbClr val="6161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9CC0C-BE61-D512-9D7B-95D0E0282F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EBFA59-3EE9-8C52-94DC-A842163D75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763F3-344A-0E24-406C-CF5B4FB38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2EAF9-B79B-D292-F21D-33EC031B3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E600B-F956-E5B1-55A1-DDB0BB899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669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6D851-6B6C-727A-B0B0-C9A8A5E48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2D22E-92C4-4B4C-C9E1-38281FE32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4E275-39ED-242C-2D6B-19D3ADC39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AF2FA-985B-703F-7328-2EA9DB76C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C5501-AB1E-91AF-C109-3A3E2AE90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5649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0A493-4DBA-B618-7D23-B3AD277E1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E7D4B9-CE74-A94A-B1B5-5FC71327DE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09427-1CD5-6F66-09C6-CE448B5B2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13C95-5EC6-25A3-2CAA-7C2D047A2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F6148-A77B-212B-636B-8D423864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20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9C87D-7F19-266A-B5A7-3D10F4F15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E28D1-DDC5-1BE3-3E7C-5E0C84A825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E2C9DD-18D3-3B01-E1CA-B2387A131E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CA06A5-8350-2568-5F99-C3600E8E1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37F1A5-24BC-F037-0190-A304A376C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414BE4-5F2E-49B1-4036-F87277F13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906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49BC9-8470-0060-871B-DF8FC53CA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58D18-600A-FA14-80A3-1F422D7C7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248EB4-5509-19C7-C9AB-E33DBA7C92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46ACFB-4B32-B675-7AE5-9EE246FB14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304494-094C-9FA8-11AB-439B1CEC10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971569-8540-DBCF-0068-63B89A2EE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B20FAE-5E73-DBB6-4363-6D8540897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BF7BEC-2A23-5A0A-33E7-BD7278886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4703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83235-5F3B-9B0D-A174-97C86E59A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DD2B7A-CEAA-8230-24DE-5FD177D74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48924F-3B2F-0F55-6592-ED382FBB0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EACAC3-6587-7956-7478-532804265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644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2CB7A7-ED02-9C1B-A549-4CE81CC74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BCB080-669E-3494-348F-5CB58CB37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9E9DE-696B-5284-4446-EDE9CF47A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352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913AA-4EA8-C60B-DC94-D69A7B6A6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8DA3D-984F-FFC3-49D8-4C1BCDA6A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DB8C6B-91CE-EE5E-4AB0-6AF57750CA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BBD0F3-B90D-AA7F-B9F9-3DC3B414B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92E106-FAE1-ECFD-CC6C-65CF3F890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4CEEDF-F6FB-D11B-7B33-02AC035C0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2491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1016F-2BF5-DA16-4AF0-B8FCC9900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920636-FBDC-42A0-A6AC-81DBB6B14D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EEF501-C2C7-435B-96F0-D6ACCF4289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1C7A9C-837C-0866-7E2E-3C962B2C4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8051CB-D17E-6EDD-5997-1BC722277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2C902-ECFE-18F5-49EB-A35D08EC1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4641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9A2BD-DFBE-8614-976C-C42CA4A2E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521C08-49BF-4FCA-B7EF-4DE2595BE5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0D10-4D58-E5EE-5986-6CC678EEB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B91DB-6489-41F7-78EE-3468EDC51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8437E-6A68-9665-6244-70798F288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90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E9FCF1-65DD-2E56-758F-0A6468B86D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614A1B-E392-11B4-B3A9-05982F7F4F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7CA87-EEB6-F931-3A1B-2C76E800D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C981E-67FA-CD3D-C0C1-F46D1670D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37607-4220-CE21-F234-9C293D4D8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4998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ECA0E5-D3FA-53DC-B511-C05078F57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9A0E66-1A23-0DEC-1F8A-59ABAF7F0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95B68-943E-23C1-8CEE-D94185BB5C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963326-785F-44B0-9204-257819504D6C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F40F7-5EA2-EB77-638C-58027E49FF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BEA62-F34F-CEBB-D998-29B117BFCC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799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853429-2C99-863B-93A3-2440EA86E8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870" r="16096" b="23208"/>
          <a:stretch/>
        </p:blipFill>
        <p:spPr>
          <a:xfrm>
            <a:off x="0" y="0"/>
            <a:ext cx="12273280" cy="69265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0B81835-7478-270A-B235-98A957776E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363" y="0"/>
            <a:ext cx="2946595" cy="1037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FE427A3-A526-EA87-1871-BE39C5C894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6393" y="116692"/>
            <a:ext cx="2262123" cy="75706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30CCD7E-C9A4-4D5D-86B6-DC017AD9A7C3}"/>
              </a:ext>
            </a:extLst>
          </p:cNvPr>
          <p:cNvSpPr txBox="1"/>
          <p:nvPr/>
        </p:nvSpPr>
        <p:spPr>
          <a:xfrm>
            <a:off x="3072142" y="2331720"/>
            <a:ext cx="5950032" cy="594360"/>
          </a:xfrm>
          <a:prstGeom prst="rect">
            <a:avLst/>
          </a:prstGeom>
          <a:noFill/>
        </p:spPr>
        <p:txBody>
          <a:bodyPr wrap="square" lIns="45720" tIns="27432" rIns="45720" bIns="27432" rtlCol="0">
            <a:spAutoFit/>
          </a:bodyPr>
          <a:lstStyle/>
          <a:p>
            <a:pPr algn="ctr">
              <a:spcAft>
                <a:spcPts val="500"/>
              </a:spcAft>
              <a:defRPr sz="3000" b="1">
                <a:solidFill>
                  <a:srgbClr val="191B1F"/>
                </a:solidFill>
                <a:latin typeface="Aptos"/>
              </a:defRPr>
            </a:pPr>
            <a:r>
              <a:t>PHISHPILOT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EF6C0F-365A-F329-3EF0-2F7D3CC66FC6}"/>
              </a:ext>
            </a:extLst>
          </p:cNvPr>
          <p:cNvSpPr txBox="1"/>
          <p:nvPr/>
        </p:nvSpPr>
        <p:spPr>
          <a:xfrm>
            <a:off x="1967047" y="4434244"/>
            <a:ext cx="3483285" cy="301621"/>
          </a:xfrm>
          <a:prstGeom prst="rect">
            <a:avLst/>
          </a:prstGeom>
          <a:noFill/>
        </p:spPr>
        <p:txBody>
          <a:bodyPr wrap="square" lIns="45720" tIns="27432" rIns="45720" bIns="27432" rtlCol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91B1F"/>
                </a:solidFill>
                <a:latin typeface="Aptos"/>
              </a:defRPr>
            </a:pPr>
            <a:r>
              <a:rPr dirty="0"/>
              <a:t>Team ID: </a:t>
            </a:r>
            <a:r>
              <a:rPr lang="en-IN" dirty="0"/>
              <a:t>AH-10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BE2F43-5C49-991E-F1B0-2C69CD8D894A}"/>
              </a:ext>
            </a:extLst>
          </p:cNvPr>
          <p:cNvSpPr txBox="1"/>
          <p:nvPr/>
        </p:nvSpPr>
        <p:spPr>
          <a:xfrm>
            <a:off x="6344821" y="4486596"/>
            <a:ext cx="4744720" cy="1355756"/>
          </a:xfrm>
          <a:prstGeom prst="rect">
            <a:avLst/>
          </a:prstGeom>
          <a:noFill/>
        </p:spPr>
        <p:txBody>
          <a:bodyPr wrap="square" lIns="45720" tIns="27432" rIns="45720" bIns="27432" rtlCol="0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191B1F"/>
                </a:solidFill>
                <a:latin typeface="Aptos"/>
              </a:defRPr>
            </a:pPr>
            <a:r>
              <a:rPr sz="2400" dirty="0"/>
              <a:t>Team Members</a:t>
            </a:r>
            <a:endParaRPr lang="en-IN" sz="2400" dirty="0"/>
          </a:p>
          <a:p>
            <a:pPr algn="ctr">
              <a:spcAft>
                <a:spcPts val="500"/>
              </a:spcAft>
              <a:defRPr sz="1600" b="1">
                <a:solidFill>
                  <a:srgbClr val="191B1F"/>
                </a:solidFill>
                <a:latin typeface="Aptos"/>
              </a:defRPr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Dhanushree B M</a:t>
            </a:r>
          </a:p>
          <a:p>
            <a:pPr algn="ctr">
              <a:spcAft>
                <a:spcPts val="500"/>
              </a:spcAft>
              <a:defRPr sz="1600" b="1">
                <a:solidFill>
                  <a:srgbClr val="191B1F"/>
                </a:solidFill>
                <a:latin typeface="Aptos"/>
              </a:defRPr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Mahima Bharadwaj</a:t>
            </a:r>
          </a:p>
          <a:p>
            <a:pPr algn="ctr">
              <a:spcAft>
                <a:spcPts val="500"/>
              </a:spcAft>
              <a:defRPr sz="1600" b="1">
                <a:solidFill>
                  <a:srgbClr val="191B1F"/>
                </a:solidFill>
                <a:latin typeface="Aptos"/>
              </a:defRPr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Amulya R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3109518-8B78-DF36-D749-48EDE87089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277237"/>
            <a:ext cx="6096001" cy="21108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1F80C44-61E7-CF1D-F718-159C6261F155}"/>
              </a:ext>
            </a:extLst>
          </p:cNvPr>
          <p:cNvSpPr txBox="1"/>
          <p:nvPr/>
        </p:nvSpPr>
        <p:spPr>
          <a:xfrm>
            <a:off x="3572545" y="3561326"/>
            <a:ext cx="4744720" cy="363176"/>
          </a:xfrm>
          <a:prstGeom prst="rect">
            <a:avLst/>
          </a:prstGeom>
          <a:noFill/>
        </p:spPr>
        <p:txBody>
          <a:bodyPr wrap="square" lIns="45720" tIns="27432" rIns="45720" bIns="27432" rtlCol="0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191B1F"/>
                </a:solidFill>
                <a:latin typeface="Aptos"/>
              </a:defRPr>
            </a:pPr>
            <a:r>
              <a:rPr sz="2000" dirty="0"/>
              <a:t>Team Name: </a:t>
            </a:r>
            <a:r>
              <a:rPr lang="en-IN" sz="2000" dirty="0"/>
              <a:t>Blueprints Architects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743200" y="2999232"/>
            <a:ext cx="6766560" cy="60939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F24B0A"/>
                </a:solidFill>
                <a:latin typeface="Aptos"/>
              </a:defRPr>
            </a:pPr>
            <a:r>
              <a:rPr lang="en-IN" dirty="0"/>
              <a:t>Agentic AI &amp; </a:t>
            </a:r>
            <a:r>
              <a:rPr dirty="0"/>
              <a:t>Multi-Agent AI for Phishing Incident Investigation &amp; Response</a:t>
            </a:r>
          </a:p>
        </p:txBody>
      </p:sp>
    </p:spTree>
    <p:extLst>
      <p:ext uri="{BB962C8B-B14F-4D97-AF65-F5344CB8AC3E}">
        <p14:creationId xmlns:p14="http://schemas.microsoft.com/office/powerpoint/2010/main" val="3289529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0D371E4-788F-AE25-55F2-F8C84245D0A5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lnSpc>
                <a:spcPts val="2939"/>
              </a:lnSpc>
              <a:spcAft>
                <a:spcPts val="500"/>
              </a:spcAft>
              <a:defRPr sz="1400" b="1">
                <a:solidFill>
                  <a:srgbClr val="191B1F"/>
                </a:solidFill>
                <a:latin typeface="Aptos"/>
              </a:defRPr>
            </a:pPr>
            <a:r>
              <a:t>2/5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9F81D9-405D-2B75-24AC-F9F0F8D84DE1}"/>
              </a:ext>
            </a:extLst>
          </p:cNvPr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45720" tIns="27432" rIns="45720" bIns="27432" rtlCol="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191B1F"/>
                </a:solidFill>
                <a:latin typeface="Aptos"/>
              </a:defRPr>
            </a:pPr>
            <a:r>
              <a:t>THEME &amp; PROBLEM STATEMENT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3C4E55-2C89-E28E-7AA6-A5533B4A2F3A}"/>
              </a:ext>
            </a:extLst>
          </p:cNvPr>
          <p:cNvSpPr txBox="1"/>
          <p:nvPr/>
        </p:nvSpPr>
        <p:spPr>
          <a:xfrm>
            <a:off x="1295400" y="3962400"/>
            <a:ext cx="6979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785D40A-ABCD-6EA1-BF61-D6FD907801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A06408-5286-A806-B200-9C4DF74BAB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1234440"/>
            <a:ext cx="1051560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F24B0A"/>
                </a:solidFill>
                <a:latin typeface="Aptos"/>
              </a:defRPr>
            </a:pPr>
            <a:r>
              <a:t>PROBLEM: Phishing reports are handled manually, slowly and inconsistently.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1965960"/>
            <a:ext cx="5074920" cy="1234440"/>
          </a:xfrm>
          <a:prstGeom prst="roundRect">
            <a:avLst/>
          </a:prstGeom>
          <a:solidFill>
            <a:srgbClr val="F7F2EA"/>
          </a:solidFill>
          <a:ln>
            <a:solidFill>
              <a:srgbClr val="E0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73152" rtlCol="0" anchor="ctr"/>
          <a:lstStyle/>
          <a:p>
            <a:pPr algn="ctr">
              <a:spcAft>
                <a:spcPts val="500"/>
              </a:spcAft>
              <a:defRPr sz="1600" b="1">
                <a:solidFill>
                  <a:srgbClr val="191B1F"/>
                </a:solidFill>
                <a:latin typeface="Aptos"/>
              </a:defRPr>
            </a:pPr>
            <a:r>
              <a:t>WHO IS AFFECTED?</a:t>
            </a:r>
          </a:p>
          <a:p>
            <a:pPr>
              <a:defRPr sz="1400">
                <a:solidFill>
                  <a:srgbClr val="2D2F34"/>
                </a:solidFill>
                <a:latin typeface="Aptos"/>
              </a:defRPr>
            </a:pPr>
            <a:r>
              <a:t>Small businesses, college IT teams and help desks with limited security staff.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1965960"/>
            <a:ext cx="64008" cy="1234440"/>
          </a:xfrm>
          <a:prstGeom prst="rect">
            <a:avLst/>
          </a:prstGeom>
          <a:solidFill>
            <a:srgbClr val="F24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172200" y="1965960"/>
            <a:ext cx="5074920" cy="1234440"/>
          </a:xfrm>
          <a:prstGeom prst="roundRect">
            <a:avLst/>
          </a:prstGeom>
          <a:solidFill>
            <a:srgbClr val="F7F2EA"/>
          </a:solidFill>
          <a:ln>
            <a:solidFill>
              <a:srgbClr val="E0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73152" rtlCol="0" anchor="ctr"/>
          <a:lstStyle/>
          <a:p>
            <a:pPr algn="ctr">
              <a:spcAft>
                <a:spcPts val="500"/>
              </a:spcAft>
              <a:defRPr sz="1600" b="1">
                <a:solidFill>
                  <a:srgbClr val="191B1F"/>
                </a:solidFill>
                <a:latin typeface="Aptos"/>
              </a:defRPr>
            </a:pPr>
            <a:r>
              <a:t>WHAT GOES WRONG?</a:t>
            </a:r>
          </a:p>
          <a:p>
            <a:pPr>
              <a:defRPr sz="1400">
                <a:solidFill>
                  <a:srgbClr val="2D2F34"/>
                </a:solidFill>
                <a:latin typeface="Aptos"/>
              </a:defRPr>
            </a:pPr>
            <a:r>
              <a:t>Analysts switch between emails, URLs and logs; evidence gets missed and response is delayed.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1965960"/>
            <a:ext cx="64008" cy="1234440"/>
          </a:xfrm>
          <a:prstGeom prst="rect">
            <a:avLst/>
          </a:prstGeom>
          <a:solidFill>
            <a:srgbClr val="F24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77240" y="3520440"/>
            <a:ext cx="5074920" cy="1234440"/>
          </a:xfrm>
          <a:prstGeom prst="roundRect">
            <a:avLst/>
          </a:prstGeom>
          <a:solidFill>
            <a:srgbClr val="F7F2EA"/>
          </a:solidFill>
          <a:ln>
            <a:solidFill>
              <a:srgbClr val="E0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73152" rtlCol="0" anchor="ctr"/>
          <a:lstStyle/>
          <a:p>
            <a:pPr algn="ctr">
              <a:spcAft>
                <a:spcPts val="500"/>
              </a:spcAft>
              <a:defRPr sz="1600" b="1">
                <a:solidFill>
                  <a:srgbClr val="191B1F"/>
                </a:solidFill>
                <a:latin typeface="Aptos"/>
              </a:defRPr>
            </a:pPr>
            <a:r>
              <a:t>WHY IT MATTERS</a:t>
            </a:r>
          </a:p>
          <a:p>
            <a:pPr>
              <a:defRPr sz="1400">
                <a:solidFill>
                  <a:srgbClr val="2D2F34"/>
                </a:solidFill>
                <a:latin typeface="Aptos"/>
              </a:defRPr>
            </a:pPr>
            <a:r>
              <a:t>A single fake sign-in link can lead to account takeover, data exposure and business disruption.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3520440"/>
            <a:ext cx="64008" cy="1234440"/>
          </a:xfrm>
          <a:prstGeom prst="rect">
            <a:avLst/>
          </a:prstGeom>
          <a:solidFill>
            <a:srgbClr val="F24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172200" y="3520440"/>
            <a:ext cx="5074920" cy="1234440"/>
          </a:xfrm>
          <a:prstGeom prst="roundRect">
            <a:avLst/>
          </a:prstGeom>
          <a:solidFill>
            <a:srgbClr val="F7F2EA"/>
          </a:solidFill>
          <a:ln>
            <a:solidFill>
              <a:srgbClr val="E0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73152" rtlCol="0" anchor="ctr"/>
          <a:lstStyle/>
          <a:p>
            <a:pPr algn="ctr">
              <a:spcAft>
                <a:spcPts val="500"/>
              </a:spcAft>
              <a:defRPr sz="1600" b="1">
                <a:solidFill>
                  <a:srgbClr val="191B1F"/>
                </a:solidFill>
                <a:latin typeface="Aptos"/>
              </a:defRPr>
            </a:pPr>
            <a:r>
              <a:t>THE GAP</a:t>
            </a:r>
          </a:p>
          <a:p>
            <a:pPr>
              <a:defRPr sz="1400">
                <a:solidFill>
                  <a:srgbClr val="2D2F34"/>
                </a:solidFill>
                <a:latin typeface="Aptos"/>
              </a:defRPr>
            </a:pPr>
            <a:r>
              <a:t>Basic filters flag suspicious content, but do not coordinate investigation, evidence checks and approved response.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3520440"/>
            <a:ext cx="64008" cy="1234440"/>
          </a:xfrm>
          <a:prstGeom prst="rect">
            <a:avLst/>
          </a:prstGeom>
          <a:solidFill>
            <a:srgbClr val="F24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373466" y="5196840"/>
            <a:ext cx="10424160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91B1F"/>
                </a:solidFill>
                <a:latin typeface="Aptos"/>
              </a:defRPr>
            </a:pPr>
            <a:r>
              <a:rPr dirty="0"/>
              <a:t>Goal: turn one reported suspicious email into a traceable, evidence-backed incident decision.</a:t>
            </a:r>
          </a:p>
        </p:txBody>
      </p:sp>
    </p:spTree>
    <p:extLst>
      <p:ext uri="{BB962C8B-B14F-4D97-AF65-F5344CB8AC3E}">
        <p14:creationId xmlns:p14="http://schemas.microsoft.com/office/powerpoint/2010/main" val="3813759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8ADD92-B052-52A2-BFA5-F8B651CB094E}"/>
              </a:ext>
            </a:extLst>
          </p:cNvPr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45720" tIns="27432" rIns="45720" bIns="27432" rtlCol="0">
            <a:spAutoFit/>
          </a:bodyPr>
          <a:lstStyle>
            <a:defPPr>
              <a:defRPr lang="en-US"/>
            </a:defPPr>
            <a:lvl1pPr algn="ctr">
              <a:defRPr sz="48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l">
              <a:spcAft>
                <a:spcPts val="500"/>
              </a:spcAft>
              <a:defRPr sz="2400" b="1">
                <a:solidFill>
                  <a:srgbClr val="191B1F"/>
                </a:solidFill>
                <a:latin typeface="Aptos"/>
              </a:defRPr>
            </a:pPr>
            <a:r>
              <a:t>PROPOSED SOLUTION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432ACF-BAB9-1D67-0E5E-BED41B9E4E80}"/>
              </a:ext>
            </a:extLst>
          </p:cNvPr>
          <p:cNvSpPr txBox="1"/>
          <p:nvPr/>
        </p:nvSpPr>
        <p:spPr>
          <a:xfrm>
            <a:off x="1280160" y="3833077"/>
            <a:ext cx="697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4AFF3A-2B62-5009-AFA7-F5DB6526AAB7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lnSpc>
                <a:spcPts val="2939"/>
              </a:lnSpc>
              <a:spcAft>
                <a:spcPts val="500"/>
              </a:spcAft>
              <a:defRPr sz="1400" b="1">
                <a:solidFill>
                  <a:srgbClr val="191B1F"/>
                </a:solidFill>
                <a:latin typeface="Aptos"/>
              </a:defRPr>
            </a:pPr>
            <a:r>
              <a:t>3/5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144BEE-B900-92C2-AC75-3EF80CC667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D54BB20-3A67-09ED-A11D-79CD9826E71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1170432"/>
            <a:ext cx="10607040" cy="5943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F24B0A"/>
                </a:solidFill>
                <a:latin typeface="Aptos"/>
              </a:defRPr>
            </a:pPr>
            <a:r>
              <a:t>PhishPilot assigns specialist AI agents to investigate a reported phishing email together.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148840"/>
            <a:ext cx="1874519" cy="1417320"/>
          </a:xfrm>
          <a:prstGeom prst="roundRect">
            <a:avLst/>
          </a:prstGeom>
          <a:solidFill>
            <a:srgbClr val="F7F2EA"/>
          </a:solidFill>
          <a:ln>
            <a:solidFill>
              <a:srgbClr val="E0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73152" rtlCol="0" anchor="ctr"/>
          <a:lstStyle/>
          <a:p>
            <a:pPr algn="ctr">
              <a:spcAft>
                <a:spcPts val="500"/>
              </a:spcAft>
              <a:defRPr sz="1400" b="1">
                <a:solidFill>
                  <a:srgbClr val="191B1F"/>
                </a:solidFill>
                <a:latin typeface="Aptos"/>
              </a:defRPr>
            </a:pPr>
            <a:r>
              <a:t>1  REPORT</a:t>
            </a:r>
          </a:p>
          <a:p>
            <a:pPr>
              <a:defRPr sz="1400">
                <a:solidFill>
                  <a:srgbClr val="2D2F34"/>
                </a:solidFill>
                <a:latin typeface="Aptos"/>
              </a:defRPr>
            </a:pPr>
            <a:r>
              <a:t>User submits email, URL or screenshot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148840"/>
            <a:ext cx="64008" cy="1417320"/>
          </a:xfrm>
          <a:prstGeom prst="rect">
            <a:avLst/>
          </a:prstGeom>
          <a:solidFill>
            <a:srgbClr val="F24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971800" y="2148840"/>
            <a:ext cx="1874519" cy="1417320"/>
          </a:xfrm>
          <a:prstGeom prst="roundRect">
            <a:avLst/>
          </a:prstGeom>
          <a:solidFill>
            <a:srgbClr val="F7F2EA"/>
          </a:solidFill>
          <a:ln>
            <a:solidFill>
              <a:srgbClr val="E0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73152" rtlCol="0" anchor="ctr"/>
          <a:lstStyle/>
          <a:p>
            <a:pPr algn="ctr">
              <a:spcAft>
                <a:spcPts val="500"/>
              </a:spcAft>
              <a:defRPr sz="1400" b="1">
                <a:solidFill>
                  <a:srgbClr val="191B1F"/>
                </a:solidFill>
                <a:latin typeface="Aptos"/>
              </a:defRPr>
            </a:pPr>
            <a:r>
              <a:t>2  TRIAGE AGENT</a:t>
            </a:r>
          </a:p>
          <a:p>
            <a:pPr>
              <a:defRPr sz="1400">
                <a:solidFill>
                  <a:srgbClr val="2D2F34"/>
                </a:solidFill>
                <a:latin typeface="Aptos"/>
              </a:defRPr>
            </a:pPr>
            <a:r>
              <a:t>Extracts sender, links and indicators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71800" y="2148840"/>
            <a:ext cx="64008" cy="1417320"/>
          </a:xfrm>
          <a:prstGeom prst="rect">
            <a:avLst/>
          </a:prstGeom>
          <a:solidFill>
            <a:srgbClr val="F24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257800" y="2148840"/>
            <a:ext cx="1874519" cy="1417320"/>
          </a:xfrm>
          <a:prstGeom prst="roundRect">
            <a:avLst/>
          </a:prstGeom>
          <a:solidFill>
            <a:srgbClr val="F7F2EA"/>
          </a:solidFill>
          <a:ln>
            <a:solidFill>
              <a:srgbClr val="E0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73152" rtlCol="0" anchor="ctr"/>
          <a:lstStyle/>
          <a:p>
            <a:pPr algn="ctr">
              <a:spcAft>
                <a:spcPts val="500"/>
              </a:spcAft>
              <a:defRPr sz="1400" b="1">
                <a:solidFill>
                  <a:srgbClr val="191B1F"/>
                </a:solidFill>
                <a:latin typeface="Aptos"/>
              </a:defRPr>
            </a:pPr>
            <a:r>
              <a:t>3  INVESTIGATOR</a:t>
            </a:r>
          </a:p>
          <a:p>
            <a:pPr>
              <a:defRPr sz="1400">
                <a:solidFill>
                  <a:srgbClr val="2D2F34"/>
                </a:solidFill>
                <a:latin typeface="Aptos"/>
              </a:defRPr>
            </a:pPr>
            <a:r>
              <a:t>Checks URL, domain and sample logs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57800" y="2148840"/>
            <a:ext cx="64008" cy="1417320"/>
          </a:xfrm>
          <a:prstGeom prst="rect">
            <a:avLst/>
          </a:prstGeom>
          <a:solidFill>
            <a:srgbClr val="F24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543800" y="2148840"/>
            <a:ext cx="1874519" cy="1417320"/>
          </a:xfrm>
          <a:prstGeom prst="roundRect">
            <a:avLst/>
          </a:prstGeom>
          <a:solidFill>
            <a:srgbClr val="F7F2EA"/>
          </a:solidFill>
          <a:ln>
            <a:solidFill>
              <a:srgbClr val="E0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73152" rtlCol="0" anchor="ctr"/>
          <a:lstStyle/>
          <a:p>
            <a:pPr algn="ctr">
              <a:spcAft>
                <a:spcPts val="500"/>
              </a:spcAft>
              <a:defRPr sz="1400" b="1">
                <a:solidFill>
                  <a:srgbClr val="191B1F"/>
                </a:solidFill>
                <a:latin typeface="Aptos"/>
              </a:defRPr>
            </a:pPr>
            <a:r>
              <a:t>4  RISK REVIEWER</a:t>
            </a:r>
          </a:p>
          <a:p>
            <a:pPr>
              <a:defRPr sz="1400">
                <a:solidFill>
                  <a:srgbClr val="2D2F34"/>
                </a:solidFill>
                <a:latin typeface="Aptos"/>
              </a:defRPr>
            </a:pPr>
            <a:r>
              <a:t>Cross-checks evidence; scores risk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43800" y="2148840"/>
            <a:ext cx="64008" cy="1417320"/>
          </a:xfrm>
          <a:prstGeom prst="rect">
            <a:avLst/>
          </a:prstGeom>
          <a:solidFill>
            <a:srgbClr val="F24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829800" y="2148840"/>
            <a:ext cx="1874519" cy="1417320"/>
          </a:xfrm>
          <a:prstGeom prst="roundRect">
            <a:avLst/>
          </a:prstGeom>
          <a:solidFill>
            <a:srgbClr val="F7F2EA"/>
          </a:solidFill>
          <a:ln>
            <a:solidFill>
              <a:srgbClr val="E0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73152" rtlCol="0" anchor="ctr"/>
          <a:lstStyle/>
          <a:p>
            <a:pPr algn="ctr">
              <a:spcAft>
                <a:spcPts val="500"/>
              </a:spcAft>
              <a:defRPr sz="1400" b="1">
                <a:solidFill>
                  <a:srgbClr val="191B1F"/>
                </a:solidFill>
                <a:latin typeface="Aptos"/>
              </a:defRPr>
            </a:pPr>
            <a:r>
              <a:t>5  RESPONSE AGENT</a:t>
            </a:r>
          </a:p>
          <a:p>
            <a:pPr>
              <a:defRPr sz="1400">
                <a:solidFill>
                  <a:srgbClr val="2D2F34"/>
                </a:solidFill>
                <a:latin typeface="Aptos"/>
              </a:defRPr>
            </a:pPr>
            <a:r>
              <a:t>Drafts safe actions for approval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29800" y="2148840"/>
            <a:ext cx="64008" cy="1417320"/>
          </a:xfrm>
          <a:prstGeom prst="rect">
            <a:avLst/>
          </a:prstGeom>
          <a:solidFill>
            <a:srgbClr val="F24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22" name="Connector 21"/>
          <p:cNvCxnSpPr/>
          <p:nvPr/>
        </p:nvCxnSpPr>
        <p:spPr>
          <a:xfrm>
            <a:off x="2633472" y="2852928"/>
            <a:ext cx="256032" cy="0"/>
          </a:xfrm>
          <a:prstGeom prst="line">
            <a:avLst/>
          </a:prstGeom>
          <a:ln w="25400">
            <a:solidFill>
              <a:srgbClr val="F24B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919472" y="2852928"/>
            <a:ext cx="256032" cy="0"/>
          </a:xfrm>
          <a:prstGeom prst="line">
            <a:avLst/>
          </a:prstGeom>
          <a:ln w="25400">
            <a:solidFill>
              <a:srgbClr val="F24B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205472" y="2852928"/>
            <a:ext cx="256032" cy="0"/>
          </a:xfrm>
          <a:prstGeom prst="line">
            <a:avLst/>
          </a:prstGeom>
          <a:ln w="25400">
            <a:solidFill>
              <a:srgbClr val="F24B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491472" y="2852928"/>
            <a:ext cx="256032" cy="0"/>
          </a:xfrm>
          <a:prstGeom prst="line">
            <a:avLst/>
          </a:prstGeom>
          <a:ln w="25400">
            <a:solidFill>
              <a:srgbClr val="F24B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60120" y="4069080"/>
            <a:ext cx="4800600" cy="1051560"/>
          </a:xfrm>
          <a:prstGeom prst="roundRect">
            <a:avLst/>
          </a:prstGeom>
          <a:solidFill>
            <a:srgbClr val="F7F2EA"/>
          </a:solidFill>
          <a:ln>
            <a:solidFill>
              <a:srgbClr val="E0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73152" rtlCol="0" anchor="ctr"/>
          <a:lstStyle/>
          <a:p>
            <a:pPr algn="ctr">
              <a:spcAft>
                <a:spcPts val="500"/>
              </a:spcAft>
              <a:defRPr sz="1400" b="1">
                <a:solidFill>
                  <a:srgbClr val="191B1F"/>
                </a:solidFill>
                <a:latin typeface="Aptos"/>
              </a:defRPr>
            </a:pPr>
            <a:r>
              <a:t>HUMAN APPROVAL GATE</a:t>
            </a:r>
          </a:p>
          <a:p>
            <a:pPr>
              <a:defRPr sz="1400">
                <a:solidFill>
                  <a:srgbClr val="2D2F34"/>
                </a:solidFill>
                <a:latin typeface="Aptos"/>
              </a:defRPr>
            </a:pPr>
            <a:r>
              <a:t>Analyst reviews evidence and approves or rejects the proposed action.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" y="4069080"/>
            <a:ext cx="64008" cy="1051560"/>
          </a:xfrm>
          <a:prstGeom prst="rect">
            <a:avLst/>
          </a:prstGeom>
          <a:solidFill>
            <a:srgbClr val="257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400800" y="4069080"/>
            <a:ext cx="4800600" cy="1051560"/>
          </a:xfrm>
          <a:prstGeom prst="roundRect">
            <a:avLst/>
          </a:prstGeom>
          <a:solidFill>
            <a:srgbClr val="F7F2EA"/>
          </a:solidFill>
          <a:ln>
            <a:solidFill>
              <a:srgbClr val="E0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73152" rtlCol="0" anchor="ctr"/>
          <a:lstStyle/>
          <a:p>
            <a:pPr algn="ctr">
              <a:spcAft>
                <a:spcPts val="500"/>
              </a:spcAft>
              <a:defRPr sz="1400" b="1">
                <a:solidFill>
                  <a:srgbClr val="191B1F"/>
                </a:solidFill>
                <a:latin typeface="Aptos"/>
              </a:defRPr>
            </a:pPr>
            <a:r>
              <a:t>AUDITABLE OUTCOME</a:t>
            </a:r>
          </a:p>
          <a:p>
            <a:pPr>
              <a:defRPr sz="1400">
                <a:solidFill>
                  <a:srgbClr val="2D2F34"/>
                </a:solidFill>
                <a:latin typeface="Aptos"/>
              </a:defRPr>
            </a:pPr>
            <a:r>
              <a:t>Record findings, confidence, decision and timestamp for every incident.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4069080"/>
            <a:ext cx="64008" cy="1051560"/>
          </a:xfrm>
          <a:prstGeom prst="rect">
            <a:avLst/>
          </a:prstGeom>
          <a:solidFill>
            <a:srgbClr val="191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822145" y="5623560"/>
            <a:ext cx="1024128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64676E"/>
                </a:solidFill>
                <a:latin typeface="Aptos"/>
              </a:defRPr>
            </a:pPr>
            <a:r>
              <a:rPr dirty="0"/>
              <a:t>No autonomous account disabling or mass blocking: actions are recommendations until approved.</a:t>
            </a:r>
          </a:p>
        </p:txBody>
      </p:sp>
    </p:spTree>
    <p:extLst>
      <p:ext uri="{BB962C8B-B14F-4D97-AF65-F5344CB8AC3E}">
        <p14:creationId xmlns:p14="http://schemas.microsoft.com/office/powerpoint/2010/main" val="4134097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8ADD92-B052-52A2-BFA5-F8B651CB094E}"/>
              </a:ext>
            </a:extLst>
          </p:cNvPr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45720" tIns="27432" rIns="45720" bIns="27432" rtlCol="0">
            <a:spAutoFit/>
          </a:bodyPr>
          <a:lstStyle>
            <a:defPPr>
              <a:defRPr lang="en-US"/>
            </a:defPPr>
            <a:lvl1pPr algn="ctr">
              <a:defRPr sz="48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l">
              <a:spcAft>
                <a:spcPts val="500"/>
              </a:spcAft>
              <a:defRPr sz="2400" b="1">
                <a:solidFill>
                  <a:srgbClr val="191B1F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0946FF-DA18-7B33-9172-39F4DB510891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lnSpc>
                <a:spcPts val="2939"/>
              </a:lnSpc>
              <a:spcAft>
                <a:spcPts val="500"/>
              </a:spcAft>
              <a:defRPr sz="1400" b="1">
                <a:solidFill>
                  <a:srgbClr val="191B1F"/>
                </a:solidFill>
                <a:latin typeface="Aptos"/>
              </a:defRPr>
            </a:pPr>
            <a:r>
              <a:t>4/5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EF7ACDD-C1B2-95A5-92B3-2AFB47FCA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0C7E9C-9E5F-5794-5F68-5ECE61208F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CBD7B36-4898-C0B1-91B5-7F7AFA169940}"/>
              </a:ext>
            </a:extLst>
          </p:cNvPr>
          <p:cNvSpPr txBox="1"/>
          <p:nvPr/>
        </p:nvSpPr>
        <p:spPr>
          <a:xfrm>
            <a:off x="1402128" y="3849855"/>
            <a:ext cx="6979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143000"/>
            <a:ext cx="1060704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24B0A"/>
                </a:solidFill>
                <a:latin typeface="Aptos"/>
              </a:defRPr>
            </a:pPr>
            <a:r>
              <a:t>Agent orchestration + shared incident record + human-in-the-loop control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828800"/>
            <a:ext cx="2148840" cy="914400"/>
          </a:xfrm>
          <a:prstGeom prst="roundRect">
            <a:avLst/>
          </a:prstGeom>
          <a:solidFill>
            <a:srgbClr val="F7F2EA"/>
          </a:solidFill>
          <a:ln>
            <a:solidFill>
              <a:srgbClr val="E0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73152" rtlCol="0" anchor="ctr"/>
          <a:lstStyle/>
          <a:p>
            <a:pPr algn="ctr">
              <a:spcAft>
                <a:spcPts val="500"/>
              </a:spcAft>
              <a:defRPr sz="1400" b="1">
                <a:solidFill>
                  <a:srgbClr val="191B1F"/>
                </a:solidFill>
                <a:latin typeface="Aptos"/>
              </a:defRPr>
            </a:pPr>
            <a:r>
              <a:t>INPUT</a:t>
            </a:r>
          </a:p>
          <a:p>
            <a:pPr>
              <a:defRPr sz="1400">
                <a:solidFill>
                  <a:srgbClr val="2D2F34"/>
                </a:solidFill>
                <a:latin typeface="Aptos"/>
              </a:defRPr>
            </a:pPr>
            <a:r>
              <a:t>Reported email / URL</a:t>
            </a:r>
            <a:br/>
            <a:r>
              <a:t>Synthetic mail + web logs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828800"/>
            <a:ext cx="64008" cy="914400"/>
          </a:xfrm>
          <a:prstGeom prst="rect">
            <a:avLst/>
          </a:prstGeom>
          <a:solidFill>
            <a:srgbClr val="F24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429000" y="1645920"/>
            <a:ext cx="2240280" cy="1188720"/>
          </a:xfrm>
          <a:prstGeom prst="roundRect">
            <a:avLst/>
          </a:prstGeom>
          <a:solidFill>
            <a:srgbClr val="F7F2EA"/>
          </a:solidFill>
          <a:ln>
            <a:solidFill>
              <a:srgbClr val="E0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73152" rtlCol="0" anchor="ctr"/>
          <a:lstStyle/>
          <a:p>
            <a:pPr algn="ctr">
              <a:spcAft>
                <a:spcPts val="500"/>
              </a:spcAft>
              <a:defRPr sz="1400" b="1">
                <a:solidFill>
                  <a:srgbClr val="191B1F"/>
                </a:solidFill>
                <a:latin typeface="Aptos"/>
              </a:defRPr>
            </a:pPr>
            <a:r>
              <a:t>ORCHESTRATOR</a:t>
            </a:r>
          </a:p>
          <a:p>
            <a:pPr>
              <a:defRPr sz="1400">
                <a:solidFill>
                  <a:srgbClr val="2D2F34"/>
                </a:solidFill>
                <a:latin typeface="Aptos"/>
              </a:defRPr>
            </a:pPr>
            <a:r>
              <a:t>Creates task plan</a:t>
            </a:r>
            <a:br/>
            <a:r>
              <a:t>Routes work to agents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1645920"/>
            <a:ext cx="64008" cy="1188720"/>
          </a:xfrm>
          <a:prstGeom prst="rect">
            <a:avLst/>
          </a:prstGeom>
          <a:solidFill>
            <a:srgbClr val="F24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217920" y="1417320"/>
            <a:ext cx="2194560" cy="868680"/>
          </a:xfrm>
          <a:prstGeom prst="roundRect">
            <a:avLst/>
          </a:prstGeom>
          <a:solidFill>
            <a:srgbClr val="F7F2EA"/>
          </a:solidFill>
          <a:ln>
            <a:solidFill>
              <a:srgbClr val="E0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73152" rtlCol="0" anchor="ctr"/>
          <a:lstStyle/>
          <a:p>
            <a:pPr algn="ctr">
              <a:spcAft>
                <a:spcPts val="500"/>
              </a:spcAft>
              <a:defRPr sz="1400" b="1">
                <a:solidFill>
                  <a:srgbClr val="191B1F"/>
                </a:solidFill>
                <a:latin typeface="Aptos"/>
              </a:defRPr>
            </a:pPr>
            <a:r>
              <a:t>AGENT TEAM</a:t>
            </a:r>
          </a:p>
          <a:p>
            <a:pPr>
              <a:defRPr sz="1400">
                <a:solidFill>
                  <a:srgbClr val="2D2F34"/>
                </a:solidFill>
                <a:latin typeface="Aptos"/>
              </a:defRPr>
            </a:pPr>
            <a:r>
              <a:t>Triage • Investigate</a:t>
            </a:r>
            <a:br/>
            <a:r>
              <a:t>Risk • Response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417320"/>
            <a:ext cx="64008" cy="868680"/>
          </a:xfrm>
          <a:prstGeom prst="rect">
            <a:avLst/>
          </a:prstGeom>
          <a:solidFill>
            <a:srgbClr val="F24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217920" y="2468880"/>
            <a:ext cx="2194560" cy="868680"/>
          </a:xfrm>
          <a:prstGeom prst="roundRect">
            <a:avLst/>
          </a:prstGeom>
          <a:solidFill>
            <a:srgbClr val="F7F2EA"/>
          </a:solidFill>
          <a:ln>
            <a:solidFill>
              <a:srgbClr val="E0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73152" rtlCol="0" anchor="ctr"/>
          <a:lstStyle/>
          <a:p>
            <a:pPr algn="ctr">
              <a:spcAft>
                <a:spcPts val="500"/>
              </a:spcAft>
              <a:defRPr sz="1400" b="1">
                <a:solidFill>
                  <a:srgbClr val="191B1F"/>
                </a:solidFill>
                <a:latin typeface="Aptos"/>
              </a:defRPr>
            </a:pPr>
            <a:r>
              <a:t>SHARED MEMORY</a:t>
            </a:r>
          </a:p>
          <a:p>
            <a:pPr>
              <a:defRPr sz="1400">
                <a:solidFill>
                  <a:srgbClr val="2D2F34"/>
                </a:solidFill>
                <a:latin typeface="Aptos"/>
              </a:defRPr>
            </a:pPr>
            <a:r>
              <a:t>Indicators • evidence</a:t>
            </a:r>
            <a:br/>
            <a:r>
              <a:t>Findings • confidence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468880"/>
            <a:ext cx="64008" cy="868680"/>
          </a:xfrm>
          <a:prstGeom prst="rect">
            <a:avLst/>
          </a:prstGeom>
          <a:solidFill>
            <a:srgbClr val="F24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052560" y="1828800"/>
            <a:ext cx="2240280" cy="914400"/>
          </a:xfrm>
          <a:prstGeom prst="roundRect">
            <a:avLst/>
          </a:prstGeom>
          <a:solidFill>
            <a:srgbClr val="F7F2EA"/>
          </a:solidFill>
          <a:ln>
            <a:solidFill>
              <a:srgbClr val="E0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73152" rtlCol="0" anchor="ctr"/>
          <a:lstStyle/>
          <a:p>
            <a:pPr algn="ctr">
              <a:spcAft>
                <a:spcPts val="500"/>
              </a:spcAft>
              <a:defRPr sz="1400" b="1">
                <a:solidFill>
                  <a:srgbClr val="191B1F"/>
                </a:solidFill>
                <a:latin typeface="Aptos"/>
              </a:defRPr>
            </a:pPr>
            <a:r>
              <a:t>HUMAN REVIEW</a:t>
            </a:r>
          </a:p>
          <a:p>
            <a:pPr>
              <a:defRPr sz="1400">
                <a:solidFill>
                  <a:srgbClr val="2D2F34"/>
                </a:solidFill>
                <a:latin typeface="Aptos"/>
              </a:defRPr>
            </a:pPr>
            <a:r>
              <a:t>Approve / reject</a:t>
            </a:r>
            <a:br/>
            <a:r>
              <a:t>Action + audit log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52560" y="1828800"/>
            <a:ext cx="64008" cy="914400"/>
          </a:xfrm>
          <a:prstGeom prst="rect">
            <a:avLst/>
          </a:prstGeom>
          <a:solidFill>
            <a:srgbClr val="257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2926080" y="2286000"/>
            <a:ext cx="502920" cy="0"/>
          </a:xfrm>
          <a:prstGeom prst="line">
            <a:avLst/>
          </a:prstGeom>
          <a:ln w="25400">
            <a:solidFill>
              <a:srgbClr val="F24B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669280" y="2286000"/>
            <a:ext cx="548640" cy="0"/>
          </a:xfrm>
          <a:prstGeom prst="line">
            <a:avLst/>
          </a:prstGeom>
          <a:ln w="25400">
            <a:solidFill>
              <a:srgbClr val="F24B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412480" y="2286000"/>
            <a:ext cx="640080" cy="0"/>
          </a:xfrm>
          <a:prstGeom prst="line">
            <a:avLst/>
          </a:prstGeom>
          <a:ln w="25400">
            <a:solidFill>
              <a:srgbClr val="F24B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2960" y="3794760"/>
            <a:ext cx="105156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91B1F"/>
                </a:solidFill>
                <a:latin typeface="Aptos"/>
              </a:defRPr>
            </a:pPr>
            <a:r>
              <a:t>TECH STACK (proposed)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251960"/>
            <a:ext cx="3383280" cy="1051560"/>
          </a:xfrm>
          <a:prstGeom prst="roundRect">
            <a:avLst/>
          </a:prstGeom>
          <a:solidFill>
            <a:srgbClr val="F7F2EA"/>
          </a:solidFill>
          <a:ln>
            <a:solidFill>
              <a:srgbClr val="E0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73152" rtlCol="0" anchor="ctr"/>
          <a:lstStyle/>
          <a:p>
            <a:pPr algn="ctr">
              <a:spcAft>
                <a:spcPts val="500"/>
              </a:spcAft>
              <a:defRPr sz="1400" b="1">
                <a:solidFill>
                  <a:srgbClr val="191B1F"/>
                </a:solidFill>
                <a:latin typeface="Aptos"/>
              </a:defRPr>
            </a:pPr>
            <a:r>
              <a:t>APP</a:t>
            </a:r>
          </a:p>
          <a:p>
            <a:pPr>
              <a:defRPr sz="1400">
                <a:solidFill>
                  <a:srgbClr val="2D2F34"/>
                </a:solidFill>
                <a:latin typeface="Aptos"/>
              </a:defRPr>
            </a:pPr>
            <a:r>
              <a:t>React dashboard • Node.js API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251960"/>
            <a:ext cx="64008" cy="1051560"/>
          </a:xfrm>
          <a:prstGeom prst="rect">
            <a:avLst/>
          </a:prstGeom>
          <a:solidFill>
            <a:srgbClr val="F24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389120" y="4251960"/>
            <a:ext cx="3383280" cy="1051560"/>
          </a:xfrm>
          <a:prstGeom prst="roundRect">
            <a:avLst/>
          </a:prstGeom>
          <a:solidFill>
            <a:srgbClr val="F7F2EA"/>
          </a:solidFill>
          <a:ln>
            <a:solidFill>
              <a:srgbClr val="E0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73152" rtlCol="0" anchor="ctr"/>
          <a:lstStyle/>
          <a:p>
            <a:pPr algn="ctr">
              <a:spcAft>
                <a:spcPts val="500"/>
              </a:spcAft>
              <a:defRPr sz="1400" b="1">
                <a:solidFill>
                  <a:srgbClr val="191B1F"/>
                </a:solidFill>
                <a:latin typeface="Aptos"/>
              </a:defRPr>
            </a:pPr>
            <a:r>
              <a:t>AGENTS</a:t>
            </a:r>
          </a:p>
          <a:p>
            <a:pPr>
              <a:defRPr sz="1400">
                <a:solidFill>
                  <a:srgbClr val="2D2F34"/>
                </a:solidFill>
                <a:latin typeface="Aptos"/>
              </a:defRPr>
            </a:pPr>
            <a:r>
              <a:t>Python orchestration • LLM tool calls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0" y="4251960"/>
            <a:ext cx="64008" cy="1051560"/>
          </a:xfrm>
          <a:prstGeom prst="rect">
            <a:avLst/>
          </a:prstGeom>
          <a:solidFill>
            <a:srgbClr val="F24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001000" y="4251960"/>
            <a:ext cx="3383280" cy="1051560"/>
          </a:xfrm>
          <a:prstGeom prst="roundRect">
            <a:avLst/>
          </a:prstGeom>
          <a:solidFill>
            <a:srgbClr val="F7F2EA"/>
          </a:solidFill>
          <a:ln>
            <a:solidFill>
              <a:srgbClr val="E0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73152" rtlCol="0" anchor="ctr"/>
          <a:lstStyle/>
          <a:p>
            <a:pPr algn="ctr">
              <a:spcAft>
                <a:spcPts val="500"/>
              </a:spcAft>
              <a:defRPr sz="1400" b="1">
                <a:solidFill>
                  <a:srgbClr val="191B1F"/>
                </a:solidFill>
                <a:latin typeface="Aptos"/>
              </a:defRPr>
            </a:pPr>
            <a:r>
              <a:t>DATA &amp; SAFETY</a:t>
            </a:r>
          </a:p>
          <a:p>
            <a:pPr>
              <a:defRPr sz="1400">
                <a:solidFill>
                  <a:srgbClr val="2D2F34"/>
                </a:solidFill>
                <a:latin typeface="Aptos"/>
              </a:defRPr>
            </a:pPr>
            <a:r>
              <a:t>SQLite / JSON • synthetic logs • analyst approval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1000" y="4251960"/>
            <a:ext cx="64008" cy="1051560"/>
          </a:xfrm>
          <a:prstGeom prst="rect">
            <a:avLst/>
          </a:prstGeom>
          <a:solidFill>
            <a:srgbClr val="F24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596467" y="5669280"/>
            <a:ext cx="1042416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64676E"/>
                </a:solidFill>
                <a:latin typeface="Aptos"/>
              </a:defRPr>
            </a:pPr>
            <a:r>
              <a:rPr dirty="0"/>
              <a:t>Why multi-agent? Parallel specialist checks reduce missed evidence; shared state keeps one consistent case.</a:t>
            </a:r>
          </a:p>
        </p:txBody>
      </p:sp>
    </p:spTree>
    <p:extLst>
      <p:ext uri="{BB962C8B-B14F-4D97-AF65-F5344CB8AC3E}">
        <p14:creationId xmlns:p14="http://schemas.microsoft.com/office/powerpoint/2010/main" val="2615860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8ADD92-B052-52A2-BFA5-F8B651CB094E}"/>
              </a:ext>
            </a:extLst>
          </p:cNvPr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45720" tIns="27432" rIns="45720" bIns="27432" rtlCol="0">
            <a:spAutoFit/>
          </a:bodyPr>
          <a:lstStyle>
            <a:defPPr>
              <a:defRPr lang="en-US"/>
            </a:defPPr>
            <a:lvl1pPr algn="ctr">
              <a:defRPr sz="48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l">
              <a:spcAft>
                <a:spcPts val="500"/>
              </a:spcAft>
              <a:defRPr sz="2400" b="1">
                <a:solidFill>
                  <a:srgbClr val="191B1F"/>
                </a:solidFill>
                <a:latin typeface="Aptos"/>
              </a:defRPr>
            </a:pPr>
            <a:r>
              <a:t>WHAT WE WILL BUILD</a:t>
            </a:r>
            <a:endParaRPr lang="en-GB" dirty="0">
              <a:sym typeface="Archivo Black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0946FF-DA18-7B33-9172-39F4DB510891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lnSpc>
                <a:spcPts val="2939"/>
              </a:lnSpc>
              <a:spcAft>
                <a:spcPts val="500"/>
              </a:spcAft>
              <a:defRPr sz="1400" b="1">
                <a:solidFill>
                  <a:srgbClr val="191B1F"/>
                </a:solidFill>
                <a:latin typeface="Aptos"/>
              </a:defRPr>
            </a:pPr>
            <a:r>
              <a:t>5/5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EF7ACDD-C1B2-95A5-92B3-2AFB47FCA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0C7E9C-9E5F-5794-5F68-5ECE61208F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CBD7B36-4898-C0B1-91B5-7F7AFA169940}"/>
              </a:ext>
            </a:extLst>
          </p:cNvPr>
          <p:cNvSpPr txBox="1"/>
          <p:nvPr/>
        </p:nvSpPr>
        <p:spPr>
          <a:xfrm>
            <a:off x="1402128" y="3849855"/>
            <a:ext cx="697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143000"/>
            <a:ext cx="1051560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24B0A"/>
                </a:solidFill>
                <a:latin typeface="Aptos"/>
              </a:defRPr>
            </a:pPr>
            <a:r>
              <a:t>A working, end-to-end prototype that mentors can test with sample incidents.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074920" cy="1051560"/>
          </a:xfrm>
          <a:prstGeom prst="roundRect">
            <a:avLst/>
          </a:prstGeom>
          <a:solidFill>
            <a:srgbClr val="F7F2EA"/>
          </a:solidFill>
          <a:ln>
            <a:solidFill>
              <a:srgbClr val="E0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73152" rtlCol="0" anchor="ctr"/>
          <a:lstStyle/>
          <a:p>
            <a:pPr algn="ctr">
              <a:spcAft>
                <a:spcPts val="500"/>
              </a:spcAft>
              <a:defRPr sz="1600" b="1">
                <a:solidFill>
                  <a:srgbClr val="191B1F"/>
                </a:solidFill>
                <a:latin typeface="Aptos"/>
              </a:defRPr>
            </a:pPr>
            <a:r>
              <a:t>1. INCIDENT INTAKE</a:t>
            </a:r>
          </a:p>
          <a:p>
            <a:pPr>
              <a:defRPr sz="1400">
                <a:solidFill>
                  <a:srgbClr val="2D2F34"/>
                </a:solidFill>
                <a:latin typeface="Aptos"/>
              </a:defRPr>
            </a:pPr>
            <a:r>
              <a:t>Paste or upload a sample email / URL; extract sender, links and key indicators.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783080"/>
            <a:ext cx="64008" cy="1051560"/>
          </a:xfrm>
          <a:prstGeom prst="rect">
            <a:avLst/>
          </a:prstGeom>
          <a:solidFill>
            <a:srgbClr val="F24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172200" y="1783080"/>
            <a:ext cx="5074920" cy="1051560"/>
          </a:xfrm>
          <a:prstGeom prst="roundRect">
            <a:avLst/>
          </a:prstGeom>
          <a:solidFill>
            <a:srgbClr val="F7F2EA"/>
          </a:solidFill>
          <a:ln>
            <a:solidFill>
              <a:srgbClr val="E0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73152" rtlCol="0" anchor="ctr"/>
          <a:lstStyle/>
          <a:p>
            <a:pPr algn="ctr">
              <a:spcAft>
                <a:spcPts val="500"/>
              </a:spcAft>
              <a:defRPr sz="1600" b="1">
                <a:solidFill>
                  <a:srgbClr val="191B1F"/>
                </a:solidFill>
                <a:latin typeface="Aptos"/>
              </a:defRPr>
            </a:pPr>
            <a:r>
              <a:t>2. MULTI-AGENT ANALYSIS</a:t>
            </a:r>
          </a:p>
          <a:p>
            <a:pPr>
              <a:defRPr sz="1400">
                <a:solidFill>
                  <a:srgbClr val="2D2F34"/>
                </a:solidFill>
                <a:latin typeface="Aptos"/>
              </a:defRPr>
            </a:pPr>
            <a:r>
              <a:t>Show each agent’s task, evidence found, reasoning summary and confidence.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783080"/>
            <a:ext cx="64008" cy="1051560"/>
          </a:xfrm>
          <a:prstGeom prst="rect">
            <a:avLst/>
          </a:prstGeom>
          <a:solidFill>
            <a:srgbClr val="F24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77240" y="3063240"/>
            <a:ext cx="5074920" cy="1051560"/>
          </a:xfrm>
          <a:prstGeom prst="roundRect">
            <a:avLst/>
          </a:prstGeom>
          <a:solidFill>
            <a:srgbClr val="F7F2EA"/>
          </a:solidFill>
          <a:ln>
            <a:solidFill>
              <a:srgbClr val="E0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73152" rtlCol="0" anchor="ctr"/>
          <a:lstStyle/>
          <a:p>
            <a:pPr algn="ctr">
              <a:spcAft>
                <a:spcPts val="500"/>
              </a:spcAft>
              <a:defRPr sz="1600" b="1">
                <a:solidFill>
                  <a:srgbClr val="191B1F"/>
                </a:solidFill>
                <a:latin typeface="Aptos"/>
              </a:defRPr>
            </a:pPr>
            <a:r>
              <a:t>3. RISK &amp; EXPLANATION</a:t>
            </a:r>
          </a:p>
          <a:p>
            <a:pPr>
              <a:defRPr sz="1400">
                <a:solidFill>
                  <a:srgbClr val="2D2F34"/>
                </a:solidFill>
                <a:latin typeface="Aptos"/>
              </a:defRPr>
            </a:pPr>
            <a:r>
              <a:t>Display Low / Medium / High risk with evidence-linked reasons, not just a score.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063240"/>
            <a:ext cx="64008" cy="1051560"/>
          </a:xfrm>
          <a:prstGeom prst="rect">
            <a:avLst/>
          </a:prstGeom>
          <a:solidFill>
            <a:srgbClr val="F24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172200" y="3063240"/>
            <a:ext cx="5074920" cy="1051560"/>
          </a:xfrm>
          <a:prstGeom prst="roundRect">
            <a:avLst/>
          </a:prstGeom>
          <a:solidFill>
            <a:srgbClr val="F7F2EA"/>
          </a:solidFill>
          <a:ln>
            <a:solidFill>
              <a:srgbClr val="E0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73152" rtlCol="0" anchor="ctr"/>
          <a:lstStyle/>
          <a:p>
            <a:pPr algn="ctr">
              <a:spcAft>
                <a:spcPts val="500"/>
              </a:spcAft>
              <a:defRPr sz="1600" b="1">
                <a:solidFill>
                  <a:srgbClr val="191B1F"/>
                </a:solidFill>
                <a:latin typeface="Aptos"/>
              </a:defRPr>
            </a:pPr>
            <a:r>
              <a:t>4. APPROVAL &amp; AUDIT</a:t>
            </a:r>
          </a:p>
          <a:p>
            <a:pPr>
              <a:defRPr sz="1400">
                <a:solidFill>
                  <a:srgbClr val="2D2F34"/>
                </a:solidFill>
                <a:latin typeface="Aptos"/>
              </a:defRPr>
            </a:pPr>
            <a:r>
              <a:t>Present recommended containment steps; record analyst approval and final outcome.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3063240"/>
            <a:ext cx="64008" cy="1051560"/>
          </a:xfrm>
          <a:prstGeom prst="rect">
            <a:avLst/>
          </a:prstGeom>
          <a:solidFill>
            <a:srgbClr val="F24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77240" y="4343400"/>
            <a:ext cx="5074920" cy="1051560"/>
          </a:xfrm>
          <a:prstGeom prst="roundRect">
            <a:avLst/>
          </a:prstGeom>
          <a:solidFill>
            <a:srgbClr val="F7F2EA"/>
          </a:solidFill>
          <a:ln>
            <a:solidFill>
              <a:srgbClr val="E0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73152" rtlCol="0" anchor="ctr"/>
          <a:lstStyle/>
          <a:p>
            <a:pPr algn="ctr">
              <a:spcAft>
                <a:spcPts val="500"/>
              </a:spcAft>
              <a:defRPr sz="1600" b="1">
                <a:solidFill>
                  <a:srgbClr val="191B1F"/>
                </a:solidFill>
                <a:latin typeface="Aptos"/>
              </a:defRPr>
            </a:pPr>
            <a:r>
              <a:t>LIVE DEMO SCENARIO</a:t>
            </a:r>
          </a:p>
          <a:p>
            <a:pPr>
              <a:defRPr sz="1400">
                <a:solidFill>
                  <a:srgbClr val="2D2F34"/>
                </a:solidFill>
                <a:latin typeface="Aptos"/>
              </a:defRPr>
            </a:pPr>
            <a:r>
              <a:t>Submit a simulated fake password-reset email; agents inspect its URL and matching log event.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343400"/>
            <a:ext cx="64008" cy="1051560"/>
          </a:xfrm>
          <a:prstGeom prst="rect">
            <a:avLst/>
          </a:prstGeom>
          <a:solidFill>
            <a:srgbClr val="F24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172200" y="4343400"/>
            <a:ext cx="5074920" cy="1051560"/>
          </a:xfrm>
          <a:prstGeom prst="roundRect">
            <a:avLst/>
          </a:prstGeom>
          <a:solidFill>
            <a:srgbClr val="F7F2EA"/>
          </a:solidFill>
          <a:ln>
            <a:solidFill>
              <a:srgbClr val="E0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73152" rtlCol="0" anchor="ctr"/>
          <a:lstStyle/>
          <a:p>
            <a:pPr algn="ctr">
              <a:spcAft>
                <a:spcPts val="500"/>
              </a:spcAft>
              <a:defRPr sz="1600" b="1">
                <a:solidFill>
                  <a:srgbClr val="191B1F"/>
                </a:solidFill>
                <a:latin typeface="Aptos"/>
              </a:defRPr>
            </a:pPr>
            <a:r>
              <a:t>SUCCESS CRITERIA</a:t>
            </a:r>
          </a:p>
          <a:p>
            <a:pPr>
              <a:defRPr sz="1400">
                <a:solidFill>
                  <a:srgbClr val="2D2F34"/>
                </a:solidFill>
                <a:latin typeface="Aptos"/>
              </a:defRPr>
            </a:pPr>
            <a:r>
              <a:t>All agents complete their roles; evidence is visible; unsafe action cannot run without approval.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4343400"/>
            <a:ext cx="64008" cy="1051560"/>
          </a:xfrm>
          <a:prstGeom prst="rect">
            <a:avLst/>
          </a:prstGeom>
          <a:solidFill>
            <a:srgbClr val="F24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484500" y="5715000"/>
            <a:ext cx="1042416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64676E"/>
                </a:solidFill>
                <a:latin typeface="Aptos"/>
              </a:defRPr>
            </a:pPr>
            <a:r>
              <a:rPr dirty="0"/>
              <a:t>Prototype boundary: synthetic data and simulated response actions; no real inbox access or live blocking.</a:t>
            </a:r>
          </a:p>
        </p:txBody>
      </p:sp>
    </p:spTree>
    <p:extLst>
      <p:ext uri="{BB962C8B-B14F-4D97-AF65-F5344CB8AC3E}">
        <p14:creationId xmlns:p14="http://schemas.microsoft.com/office/powerpoint/2010/main" val="1244322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67DFB-A661-8C93-9ED6-A4830E21E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     </a:t>
            </a:r>
            <a:r>
              <a:rPr lang="en-IN" sz="8000" dirty="0"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18283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505</Words>
  <Application>Microsoft Office PowerPoint</Application>
  <PresentationFormat>Widescreen</PresentationFormat>
  <Paragraphs>76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Algerian</vt:lpstr>
      <vt:lpstr>Archivo Black</vt:lpstr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Sadhana S</dc:creator>
  <cp:lastModifiedBy>Dhanu shree</cp:lastModifiedBy>
  <cp:revision>10</cp:revision>
  <dcterms:created xsi:type="dcterms:W3CDTF">2026-10-16T15:16:25Z</dcterms:created>
  <dcterms:modified xsi:type="dcterms:W3CDTF">2026-10-30T03:51:00Z</dcterms:modified>
</cp:coreProperties>
</file>